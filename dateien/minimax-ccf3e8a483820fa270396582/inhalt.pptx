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hamburg.blogspot.com/2026/10/holzfassade-pflegen-jahresplan-fur.html" TargetMode="External"/><Relationship Id="rId3" Type="http://schemas.openxmlformats.org/officeDocument/2006/relationships/hyperlink" Target="https://holzundhaus.github.io/1azimmermannhamburg/dateien/minimax-ccf3e8a483820fa27039658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pflegen: Jahresplan für beschichtete und unbehandelte Hölzer · Erklärende Präsentation</a:t>
            </a:r>
          </a:p>
        </p:txBody>
      </p:sp>
      <p:sp>
        <p:nvSpPr>
          <p:cNvPr id="3" name="Content Placeholder 2"/>
          <p:cNvSpPr>
            <a:spLocks noGrp="1"/>
          </p:cNvSpPr>
          <p:nvPr>
            <p:ph idx="1"/>
          </p:nvPr>
        </p:nvSpPr>
        <p:spPr/>
        <p:txBody>
          <a:bodyPr/>
          <a:lstStyle/>
          <a:p>
            <a:r>
              <a:t>Überblick: Ein Holzfassade benötigt keinen starren Pflegekalender, sondern einen Wartungsplan, der Holzart, Oberflächenkonzept und Ausrichtung berücksichtigt. besonders wichtig ist die Frage: Wann lässt sich ein möglicher Schaden noch zuverlässig beurteilen und passend behandeln? Der folgende Leitfaden strukturiert Inspektion, Reinigung und Nachbehandlung als wiederkehrenden Ablauf und zeigt zugleich, welche Informationen für eine fachliche Einschätzung vorliegen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Kontrolltermine statt fixer Pflegeintervalle</a:t>
            </a:r>
          </a:p>
        </p:txBody>
      </p:sp>
      <p:sp>
        <p:nvSpPr>
          <p:cNvPr id="3" name="Content Placeholder 2"/>
          <p:cNvSpPr>
            <a:spLocks noGrp="1"/>
          </p:cNvSpPr>
          <p:nvPr>
            <p:ph idx="1"/>
          </p:nvPr>
        </p:nvSpPr>
        <p:spPr/>
        <p:txBody>
          <a:bodyPr/>
          <a:lstStyle/>
          <a:p>
            <a:pPr>
              <a:defRPr sz="1800"/>
            </a:pPr>
            <a:r>
              <a:t>Nach dem Winter, vor dem Sommer, nach dem Sommer und vor dem nächsten Winter bieten sich vier geeignete Zeitpunkte für die Sichtkontrolle. Im Frühjahr stehen Feuchteschäden, Frostfolgen, Risse, Abplatzungen und beschädigte Dichtungen im Mittelpunkt. Im Sommer werden Vergrauung, Farbverlust, UV- und Hitzebelastung sowie die Spritzwasserzonen am Sockel und unter Balkonen geprüft. Im Herbst richtet sich der Blick auf Wasserführung, Rinnen, Abdeckprofile, Anschlüsse und Fugen. Im Winter wird vor allem beobachtet: Eisbildung, Schneeanhaftungen und Tropfstellen an Untersichten oder Vordächern können auf ungünstige Details hinweisen. Größere Arbeite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Kontrolltermine statt fixer Pflegeintervalle</a:t>
            </a:r>
          </a:p>
        </p:txBody>
      </p:sp>
      <p:sp>
        <p:nvSpPr>
          <p:cNvPr id="3" name="Content Placeholder 2"/>
          <p:cNvSpPr>
            <a:spLocks noGrp="1"/>
          </p:cNvSpPr>
          <p:nvPr>
            <p:ph idx="1"/>
          </p:nvPr>
        </p:nvSpPr>
        <p:spPr/>
        <p:txBody>
          <a:bodyPr/>
          <a:lstStyle/>
          <a:p>
            <a:pPr>
              <a:defRPr sz="1800"/>
            </a:pPr>
            <a:r>
              <a:t>n auf nassem Holz sollten vermieden und für eine mildere Jahreszeit vorgemerkt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Oberfläche entscheidet über das Pflegeverfahren</a:t>
            </a:r>
          </a:p>
        </p:txBody>
      </p:sp>
      <p:sp>
        <p:nvSpPr>
          <p:cNvPr id="3" name="Content Placeholder 2"/>
          <p:cNvSpPr>
            <a:spLocks noGrp="1"/>
          </p:cNvSpPr>
          <p:nvPr>
            <p:ph idx="1"/>
          </p:nvPr>
        </p:nvSpPr>
        <p:spPr/>
        <p:txBody>
          <a:bodyPr/>
          <a:lstStyle/>
          <a:p>
            <a:pPr>
              <a:defRPr sz="1800"/>
            </a:pPr>
            <a:r>
              <a:t>Naturbelassenes Holz vergraut gewollt und wird hauptsächlich gereinigt und kontrolliert. Eine spätere farbliche Überarbeitung ist möglich, setzt jedoch eine entsprechende Vorbereitung voraus. Bei Lasuren und Ölen ist eine Auffrischung sinnvoll, wenn die Oberfläche Wasser nicht mehr ausreichend abweist; zuvor müssen Verschmutzungen und lose Altbestände entfernt werden. Bei deckenden Beschichtungen richtet sich die Nachbehandlung nach den vom Hersteller angegebenen Intervallen. Entscheidend ist außerdem, dass die gewünschte optische Entwicklung zum ursprünglichen Oberflächenkonzept passt. Schadhaften Holz oder auffälligen Pilzbefall sollte eine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Oberfläche entscheidet über das Pflegeverfahren</a:t>
            </a:r>
          </a:p>
        </p:txBody>
      </p:sp>
      <p:sp>
        <p:nvSpPr>
          <p:cNvPr id="3" name="Content Placeholder 2"/>
          <p:cNvSpPr>
            <a:spLocks noGrp="1"/>
          </p:cNvSpPr>
          <p:nvPr>
            <p:ph idx="1"/>
          </p:nvPr>
        </p:nvSpPr>
        <p:spPr/>
        <p:txBody>
          <a:bodyPr/>
          <a:lstStyle/>
          <a:p>
            <a:pPr>
              <a:defRPr sz="1800"/>
            </a:pPr>
            <a:r>
              <a:t> Fachperson beurteilen, statt die betroffene Fläche lediglich optisch aufzufrischen. Unbekannte Beschichtungen gehören ebenfalls nicht ohne Prüfung überarbeitet.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schonend und zurückhaltend durchführen</a:t>
            </a:r>
          </a:p>
        </p:txBody>
      </p:sp>
      <p:sp>
        <p:nvSpPr>
          <p:cNvPr id="3" name="Content Placeholder 2"/>
          <p:cNvSpPr>
            <a:spLocks noGrp="1"/>
          </p:cNvSpPr>
          <p:nvPr>
            <p:ph idx="1"/>
          </p:nvPr>
        </p:nvSpPr>
        <p:spPr/>
        <p:txBody>
          <a:bodyPr/>
          <a:lstStyle/>
          <a:p>
            <a:pPr>
              <a:defRPr sz="1800"/>
            </a:pPr>
            <a:r>
              <a:t>Eine jährliche, schonende Reinigung gehört in vielen Fällen zur ausreichenden Grundpflege. Weiches Wasser, milde Reiniger und weiche Bürsten helfen, Verschmutzungen zu lösen, ohne die Oberfläche unnötig zu belasten. Hochdruckreiniger können Holz aufrauen und Beschichtungen beschädigen; sie sind deshalb nicht Bestandteil der Standardpflege. Feste Anhaftungen sollten vorsichtig entfernt werden. Wer die Fläche beurteilt, sollte nicht nur auf die Farbe schauen, sondern zugleich Anschlüsse, Fugen und Wasserwege einbeziehen. Besonders relevant sind offene Stellen an Stößen, Ecken, Fensterleibungen und Sockelübergängen sowie Hirnholz-, Schnitt- und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schonend und zurückhaltend durchführen</a:t>
            </a:r>
          </a:p>
        </p:txBody>
      </p:sp>
      <p:sp>
        <p:nvSpPr>
          <p:cNvPr id="3" name="Content Placeholder 2"/>
          <p:cNvSpPr>
            <a:spLocks noGrp="1"/>
          </p:cNvSpPr>
          <p:nvPr>
            <p:ph idx="1"/>
          </p:nvPr>
        </p:nvSpPr>
        <p:spPr/>
        <p:txBody>
          <a:bodyPr/>
          <a:lstStyle/>
          <a:p>
            <a:pPr>
              <a:defRPr sz="1800"/>
            </a:pPr>
            <a:r>
              <a:t>Endkanten, die Wasser schneller aufnehmen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Wartungsprotokoll schafft Vergleichsmöglichkeiten</a:t>
            </a:r>
          </a:p>
        </p:txBody>
      </p:sp>
      <p:sp>
        <p:nvSpPr>
          <p:cNvPr id="3" name="Content Placeholder 2"/>
          <p:cNvSpPr>
            <a:spLocks noGrp="1"/>
          </p:cNvSpPr>
          <p:nvPr>
            <p:ph idx="1"/>
          </p:nvPr>
        </p:nvSpPr>
        <p:spPr/>
        <p:txBody>
          <a:bodyPr/>
          <a:lstStyle/>
          <a:p>
            <a:pPr>
              <a:defRPr sz="1800"/>
            </a:pPr>
            <a:r>
              <a:t>Ein einfaches Protokoll hilft, Veränderungen zwischen den Kontrollterminen zu erkennen. Für jeden Termin können Datum, Witterung und beobachtete Punkte festgehalten werden. Dazu gehören Risse und Abplatzungen, die Feuchte an Sockeln, Fensterbänken oder Anschlussblechen, beschädigte Dichtungen sowie offene Fugen und Stöße. Im Sommer werden Vergrauung, Korrosion und lose oder corrodiert wirkende Befestigungsmittel ergänzt, im Herbst Zustand und Haftung der Fugen sowie berechnete Flächen mit ständiger Feuchte. Ergänzende Fotos können zeigen, ob ein Schaden fortgeschritten ist. Zwei bis vier Jahre können laut Wartungsübersicht Nachbehandlungs- 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Wartungsprotokoll schafft Vergleichsmöglichkeiten</a:t>
            </a:r>
          </a:p>
        </p:txBody>
      </p:sp>
      <p:sp>
        <p:nvSpPr>
          <p:cNvPr id="3" name="Content Placeholder 2"/>
          <p:cNvSpPr>
            <a:spLocks noGrp="1"/>
          </p:cNvSpPr>
          <p:nvPr>
            <p:ph idx="1"/>
          </p:nvPr>
        </p:nvSpPr>
        <p:spPr/>
        <p:txBody>
          <a:bodyPr/>
          <a:lstStyle/>
          <a:p>
            <a:pPr>
              <a:defRPr sz="1800"/>
            </a:pPr>
            <a:r>
              <a:t>er Auffrischungsintervalle markieren; für deckende Beschichtungen bleiben jedoch die Herstellerangaben maßgeblich.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Gut vorbereitet zur fachlichen Beratung</a:t>
            </a:r>
          </a:p>
        </p:txBody>
      </p:sp>
      <p:sp>
        <p:nvSpPr>
          <p:cNvPr id="3" name="Content Placeholder 2"/>
          <p:cNvSpPr>
            <a:spLocks noGrp="1"/>
          </p:cNvSpPr>
          <p:nvPr>
            <p:ph idx="1"/>
          </p:nvPr>
        </p:nvSpPr>
        <p:spPr/>
        <p:txBody>
          <a:bodyPr/>
          <a:lstStyle/>
          <a:p>
            <a:pPr>
              <a:defRPr sz="1800"/>
            </a:pPr>
            <a:r>
              <a:t>Für eine konkrete Einschätzung sind Fotos des Gebäudes, die ungefähre Fläche, der Verlauf der Profile und die gewünschte Oberflächenwirkung hilfreich. Besonders wertvoll sind Aufzeichnungen aus der Erstausführung: Produktname, Farbton und Ausführungsdatum erleichtern die Beurteilung einer späteren Nachbehandlung. So lässt sich unterscheiden, ob eine optische Auffrischung genügt, ob die bestehende Beschichtung vorbereitet werden muss oder ob ein technischer Schaden vorliegt. Der ergänzende Material-und-Pflege-Ratgeber erklärt die Auswahl der Oberflächenkonzepte, während der Blogbeitrag zum Jahresplan die jahreszeitlichen Prüfpunkte weiter konk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Gut vorbereitet zur fachlichen Beratung</a:t>
            </a:r>
          </a:p>
        </p:txBody>
      </p:sp>
      <p:sp>
        <p:nvSpPr>
          <p:cNvPr id="3" name="Content Placeholder 2"/>
          <p:cNvSpPr>
            <a:spLocks noGrp="1"/>
          </p:cNvSpPr>
          <p:nvPr>
            <p:ph idx="1"/>
          </p:nvPr>
        </p:nvSpPr>
        <p:spPr/>
        <p:txBody>
          <a:bodyPr/>
          <a:lstStyle/>
          <a:p>
            <a:pPr>
              <a:defRPr sz="1800"/>
            </a:pPr>
            <a:r>
              <a:t>retisiert. Zusammen ergeben beide Quellen einen praktischen Rahmen, in dem Reinigung, Kontrolle und gezielte Instandhaltung aufeinander abgestimmt werden können.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pflegen: Jahresplan für beschichtete und unbehandelte Hölzer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