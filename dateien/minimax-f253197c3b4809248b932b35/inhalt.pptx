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zimmermannhamburg/-/blob/a92223b201b8abc51e5bb43ba48e3d7ccc1bc8be/_posts/2026-10-19-wandanschluss-terrassenueberdachung-bestand-schicht-aufbau.md" TargetMode="External"/><Relationship Id="rId3" Type="http://schemas.openxmlformats.org/officeDocument/2006/relationships/hyperlink" Target="https://holzundhaus.github.io/1azimmermannhamburg/dateien/minimax-f253197c3b4809248b932b3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Wandanschluss einer Terrassenüberdachung am Bestand: Schicht für Schicht richtig lösen · Erklärende Präsentation</a:t>
            </a:r>
          </a:p>
        </p:txBody>
      </p:sp>
      <p:sp>
        <p:nvSpPr>
          <p:cNvPr id="3" name="Content Placeholder 2"/>
          <p:cNvSpPr>
            <a:spLocks noGrp="1"/>
          </p:cNvSpPr>
          <p:nvPr>
            <p:ph idx="1"/>
          </p:nvPr>
        </p:nvSpPr>
        <p:spPr/>
        <p:txBody>
          <a:bodyPr/>
          <a:lstStyle/>
          <a:p>
            <a:r>
              <a:t>Überblick: Der Wandanschluss einer Terrassenüberdachung aus Holz entscheidet maßgeblich darüber, ob Regenwasser kontrolliert abfließt oder in die Konstruktion gelangt. Er umfasst deshalb weit mehr als eine sichtbare Dichtstofffuge. Eine belastbare Planung beginnt mit dem vorhandenen Wandaufbau und führt über Befestigung, Wetterschutz und Tropfkante bis zur Entwässerung des Daches. Der folgende Leitfaden zeigt, welche Schichten geprüft werden sollten und welche Angaben für eine erste fachliche Einschätzung hilfreich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1: Wandaufbau und Bestand untersuchen</a:t>
            </a:r>
          </a:p>
        </p:txBody>
      </p:sp>
      <p:sp>
        <p:nvSpPr>
          <p:cNvPr id="3" name="Content Placeholder 2"/>
          <p:cNvSpPr>
            <a:spLocks noGrp="1"/>
          </p:cNvSpPr>
          <p:nvPr>
            <p:ph idx="1"/>
          </p:nvPr>
        </p:nvSpPr>
        <p:spPr/>
        <p:txBody>
          <a:bodyPr/>
          <a:lstStyle/>
          <a:p>
            <a:pPr>
              <a:defRPr sz="1800"/>
            </a:pPr>
            <a:r>
              <a:t>Vor der ersten Planung muss bekannt sein, womit die Hauswand aufgebaut ist. Mauerwerk, Holzfachwerk, Putz auf Dämmung oder eine Vorhangfassade erfordern unterschiedliche Lösungen. Entscheidend sind außerdem vorhandene Dämmebenen, der Zustand von Putz und Anstrich sowie die Tragfähigkeit im Bereich der geplanten Auflagepunkte. Auch vorhandene Anschlüsse wie Fensterbänke, Fallrohre oder Bekleidungen können die Ausführung beeinflussen. Eine direkte Verschraubung ist daher nicht automatisch die passende Variante. Je nach Aufbau kann eine Konsole mit Abstand zur Fassade oder eine freistehende Konstruktion erforderlich sein. Grundlage jeder Entsche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1: Wandaufbau und Bestand untersuchen</a:t>
            </a:r>
          </a:p>
        </p:txBody>
      </p:sp>
      <p:sp>
        <p:nvSpPr>
          <p:cNvPr id="3" name="Content Placeholder 2"/>
          <p:cNvSpPr>
            <a:spLocks noGrp="1"/>
          </p:cNvSpPr>
          <p:nvPr>
            <p:ph idx="1"/>
          </p:nvPr>
        </p:nvSpPr>
        <p:spPr/>
        <p:txBody>
          <a:bodyPr/>
          <a:lstStyle/>
          <a:p>
            <a:pPr>
              <a:defRPr sz="1800"/>
            </a:pPr>
            <a:r>
              <a:t>idung ist eine sorgfältige Bestandsaufnahme am Gebäude.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2: Befestigung und Holzschutz konzipieren</a:t>
            </a:r>
          </a:p>
        </p:txBody>
      </p:sp>
      <p:sp>
        <p:nvSpPr>
          <p:cNvPr id="3" name="Content Placeholder 2"/>
          <p:cNvSpPr>
            <a:spLocks noGrp="1"/>
          </p:cNvSpPr>
          <p:nvPr>
            <p:ph idx="1"/>
          </p:nvPr>
        </p:nvSpPr>
        <p:spPr/>
        <p:txBody>
          <a:bodyPr/>
          <a:lstStyle/>
          <a:p>
            <a:pPr>
              <a:defRPr sz="1800"/>
            </a:pPr>
            <a:r>
              <a:t>Das Tragwerk muss nicht nur sein Eigengewicht, sondern auch Wind-, Schnee- und Holzlasten sicher in die Hauswand ableiten. Stützen, Dachträger, Verbindungsmittel und Auflager werden deshalb passend zum konkreten System bemessen. Bei einem direkten Anschluss müssen Dübel oder Anker mit ausreichendem Randabstand in einer tragfähigen Wandebene sitzen. Eine Konsolenvariante kann die Dämmebene geschlossen halten und einen Wärmebrücken-Punkt durch ein Stahlblech im Wandbereich vermeiden. Ergänzend ist der Holzschutz zu berücksichtigen: Korrosionsgeschützte oder edle Verbindungsteile helfen, Schäden in einer feuchten Anschlusssituation zu vermeiden.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2: Befestigung und Holzschutz konzipieren</a:t>
            </a:r>
          </a:p>
        </p:txBody>
      </p:sp>
      <p:sp>
        <p:nvSpPr>
          <p:cNvPr id="3" name="Content Placeholder 2"/>
          <p:cNvSpPr>
            <a:spLocks noGrp="1"/>
          </p:cNvSpPr>
          <p:nvPr>
            <p:ph idx="1"/>
          </p:nvPr>
        </p:nvSpPr>
        <p:spPr/>
        <p:txBody>
          <a:bodyPr/>
          <a:lstStyle/>
          <a:p>
            <a:pPr>
              <a:defRPr sz="1800"/>
            </a:pPr>
            <a:r>
              <a:t> Welche Ausführung tragfähig ist, lässt sich erst nach Aufmaß, Bestandsaufnahme und Planung beurteilen.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3: Wetterschutz als mehrschichtiges System</a:t>
            </a:r>
          </a:p>
        </p:txBody>
      </p:sp>
      <p:sp>
        <p:nvSpPr>
          <p:cNvPr id="3" name="Content Placeholder 2"/>
          <p:cNvSpPr>
            <a:spLocks noGrp="1"/>
          </p:cNvSpPr>
          <p:nvPr>
            <p:ph idx="1"/>
          </p:nvPr>
        </p:nvSpPr>
        <p:spPr/>
        <p:txBody>
          <a:bodyPr/>
          <a:lstStyle/>
          <a:p>
            <a:pPr>
              <a:defRPr sz="1800"/>
            </a:pPr>
            <a:r>
              <a:t>Am Wandanschluss muss das Wasser von oben und von der Seite zuverlässig abgehalten werden. Ein ausreichend hohes Anschlussblech oder ein geeignetes Anschlussprofil bildet den Hinterlaufschutz und sollte eine Kapillarkante aufweisen. Ein deutliches Gefälle nach außen leitet Regenwasser vom Haus weg. Die genaue Reihenfolge von Blech, Folie oder Bahn richtet sich vom Wandaufbau ab: Sie muss verhindern, dass Feuchte in der Anschlussfuge gestaut wird. Eine durchgehende Silikonraupe allein ersetzt diese Funktion nicht. Sie altert im Außenbereich, kann bei Bewegungen reißen und hält kein Wasser zuverlässig zurück, das sich hinter der Fuge befindet.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4: Tropfkante und bewegliche Fuge einplanen</a:t>
            </a:r>
          </a:p>
        </p:txBody>
      </p:sp>
      <p:sp>
        <p:nvSpPr>
          <p:cNvPr id="3" name="Content Placeholder 2"/>
          <p:cNvSpPr>
            <a:spLocks noGrp="1"/>
          </p:cNvSpPr>
          <p:nvPr>
            <p:ph idx="1"/>
          </p:nvPr>
        </p:nvSpPr>
        <p:spPr/>
        <p:txBody>
          <a:bodyPr/>
          <a:lstStyle/>
          <a:p>
            <a:pPr>
              <a:defRPr sz="1800"/>
            </a:pPr>
            <a:r>
              <a:t>Eine sauber ausgebildete Tropfkante trennt ablaufendes Wasser von der Fassade. Wasser, das über das Blech läuft, soll kontrolliert nach außen abtropfen und nicht unter der Blechunterseite entlang der Wand weiterlaufen. Auch der Übergang zur Fassade muss unterschiedliche Materialbewegungen tolerieren. Holz arbeitet, eine Fassade häufig mit anderen Eigenschaften. Starre Verklebungen sind dafür wenig geeignet. Bewegungsreserve kann beispielsweise durch einen Aufbau mit zwei Dichtebenen oder durch ein entsprechend ausgelegtes Profil geschaffen werden. Sichtbare Tropfkante und unsichtbarer Hinterlaufschutz gehören dabei zusammen: Die eine führt Wa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4: Tropfkante und bewegliche Fuge einplanen</a:t>
            </a:r>
          </a:p>
        </p:txBody>
      </p:sp>
      <p:sp>
        <p:nvSpPr>
          <p:cNvPr id="3" name="Content Placeholder 2"/>
          <p:cNvSpPr>
            <a:spLocks noGrp="1"/>
          </p:cNvSpPr>
          <p:nvPr>
            <p:ph idx="1"/>
          </p:nvPr>
        </p:nvSpPr>
        <p:spPr/>
        <p:txBody>
          <a:bodyPr/>
          <a:lstStyle/>
          <a:p>
            <a:pPr>
              <a:defRPr sz="1800"/>
            </a:pPr>
            <a:r>
              <a:t>sser ab, der andere verhindert seinen Eintritt.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5: Dachentwässerung und Anfrage vorbereiten</a:t>
            </a:r>
          </a:p>
        </p:txBody>
      </p:sp>
      <p:sp>
        <p:nvSpPr>
          <p:cNvPr id="3" name="Content Placeholder 2"/>
          <p:cNvSpPr>
            <a:spLocks noGrp="1"/>
          </p:cNvSpPr>
          <p:nvPr>
            <p:ph idx="1"/>
          </p:nvPr>
        </p:nvSpPr>
        <p:spPr/>
        <p:txBody>
          <a:bodyPr/>
          <a:lstStyle/>
          <a:p>
            <a:pPr>
              <a:defRPr sz="1800"/>
            </a:pPr>
            <a:r>
              <a:t>Auch ein technisch sorgfältiger Wandanschluss bleibt unvollständig, wenn das Dach nicht kontrolliert entwässert wird. Dachneigung, Rinnenposition und Fallrohrführung bestimmen den Weg des Niederschlags. Der Wandanschluss bildet das Ende dieser Linie und muss die ankommende Menge sicher bewältigen. Für die weitere Planung sollten Breite, Tiefe und Höhe der Überdachung, der bekannte Wandaufbau, vorhandene Befestigungspunkte, Gründung und Zugang zur Baustelle sowie die vorgesehene Dachdeckung dokumentiert werden. Angaben zu einer geplanten Holzterrasse helfen ebenfalls, weil deren Bodenfläche einen eigenen Feuchte- und Aufbauplan benötigt. Weite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5: Dachentwässerung und Anfrage vorbereiten</a:t>
            </a:r>
          </a:p>
        </p:txBody>
      </p:sp>
      <p:sp>
        <p:nvSpPr>
          <p:cNvPr id="3" name="Content Placeholder 2"/>
          <p:cNvSpPr>
            <a:spLocks noGrp="1"/>
          </p:cNvSpPr>
          <p:nvPr>
            <p:ph idx="1"/>
          </p:nvPr>
        </p:nvSpPr>
        <p:spPr/>
        <p:txBody>
          <a:bodyPr/>
          <a:lstStyle/>
          <a:p>
            <a:pPr>
              <a:defRPr sz="1800"/>
            </a:pPr>
            <a:r>
              <a:t>re Hinweise zur technischen Planung stehen in den [Hintergrundinformationen zum Wandanschluss](https://gitlab.com/info4678/1a-zimmermannhamburg/-/blob/a92223b201b8abc51e5bb43ba48e3d7ccc1bc8be/_posts/2026-10-19-wandanschluss-terrassenueberdachung-bestand-schicht-aufbau.md); eine konkrete Anfrage kann über die [Anfrageseite](https://gitlab.com/info4678/1a-zimmermannhamburg/-/blob/a92223b201b8abc51e5bb43ba48e3d7ccc1bc8be/_posts/2026-10-19-wandanschluss-terrassenueberdachung-bestand-schicht-aufbau.md) geschildert werden. Genehmigungsfähigkeit ist damit nicht garantiert; der baurechtliche Weg in Hamburg muss vor dem Bau geklärt werden.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Wandanschluss einer Terrassenüberdachung am Bestand: Schicht für Schicht richtig lösen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