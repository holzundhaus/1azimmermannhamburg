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zimmermannhamburg/-/blob/684e3d6e8503a04fbdd5a452d30cf0e882a62f83/_posts/2026-10-31-tragfaehigkeit-dachaufstockung-bestand-pruefen-hamburg.md" TargetMode="External"/><Relationship Id="rId3" Type="http://schemas.openxmlformats.org/officeDocument/2006/relationships/hyperlink" Target="https://holzundhaus.github.io/1azimmermannhamburg/dateien/minimax-41d7bc0e0f8c45530ed664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vor der Dachaufstockung: So wird der Bestand in Hamburg wirklich geprüft · Erklärende Präsentation</a:t>
            </a:r>
          </a:p>
        </p:txBody>
      </p:sp>
      <p:sp>
        <p:nvSpPr>
          <p:cNvPr id="3" name="Content Placeholder 2"/>
          <p:cNvSpPr>
            <a:spLocks noGrp="1"/>
          </p:cNvSpPr>
          <p:nvPr>
            <p:ph idx="1"/>
          </p:nvPr>
        </p:nvSpPr>
        <p:spPr/>
        <p:txBody>
          <a:bodyPr/>
          <a:lstStyle/>
          <a:p>
            <a:r>
              <a:t>Überblick: Eine Dachaufstockung in Holzbauweise kann zusätzlichen Wohn- oder Nutzungsraum schaffen, ohne ein Gebäude vollständig neu zu bebauen. Entscheidend ist jedoch, ob die vorhandenen Decken, Wände und Gründung die zusätzlichen Lasten tatsächlich sicher abtragen. Alte Baupläne geben dabei nur eine erste Orientierung. Für eine belastbare Planung in Hamburg müssen Bestand, Konstruktion und geplante Nutzung gemeinsam betrachtet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vorhandenen Unterlagen den ersten Überblick gewinnen</a:t>
            </a:r>
          </a:p>
        </p:txBody>
      </p:sp>
      <p:sp>
        <p:nvSpPr>
          <p:cNvPr id="3" name="Content Placeholder 2"/>
          <p:cNvSpPr>
            <a:spLocks noGrp="1"/>
          </p:cNvSpPr>
          <p:nvPr>
            <p:ph idx="1"/>
          </p:nvPr>
        </p:nvSpPr>
        <p:spPr/>
        <p:txBody>
          <a:bodyPr/>
          <a:lstStyle/>
          <a:p>
            <a:pPr>
              <a:defRPr sz="1800"/>
            </a:pPr>
            <a:r>
              <a:t>Bevor eine fachliche Prüfung beginnt, sollte der vollständige Bestand an Dokumenten gesichtet werden. Baupläne mit Grundriss, Schnitten und Ansichten zeigen den grundsätzlichen Aufbau. Tragwerkspläne, statische Berechnungen, eine Baubeschreibung sowie Informationen zum Baualter und zu verwendeten Materialien können Hinweise auf die vorhandene Konstruktion liefern. Auch die Dokumentation früherer Umbauten, Aufstockungen oder Sanierungen ist wichtig: Sie kann zeigen, welche Bauteile bereits verändert wurden. Fehlt ein Unterlagenbestand, muss die fehlende Information durch Vor-Ort-Untersuchungen ersetzt werden. Ein Energieausweis kann ebenfalls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vorhandenen Unterlagen den ersten Überblick gewinnen</a:t>
            </a:r>
          </a:p>
        </p:txBody>
      </p:sp>
      <p:sp>
        <p:nvSpPr>
          <p:cNvPr id="3" name="Content Placeholder 2"/>
          <p:cNvSpPr>
            <a:spLocks noGrp="1"/>
          </p:cNvSpPr>
          <p:nvPr>
            <p:ph idx="1"/>
          </p:nvPr>
        </p:nvSpPr>
        <p:spPr/>
        <p:txBody>
          <a:bodyPr/>
          <a:lstStyle/>
          <a:p>
            <a:pPr>
              <a:defRPr sz="1800"/>
            </a:pPr>
            <a:r>
              <a:t>Hinweise zur bestehenden Dach- und Deckenkonstruktion geben, ersetzt aber keinen Tragfähigkeitsnachweis.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Aufmaß am Bauwerk unverzichtbar ist</a:t>
            </a:r>
          </a:p>
        </p:txBody>
      </p:sp>
      <p:sp>
        <p:nvSpPr>
          <p:cNvPr id="3" name="Content Placeholder 2"/>
          <p:cNvSpPr>
            <a:spLocks noGrp="1"/>
          </p:cNvSpPr>
          <p:nvPr>
            <p:ph idx="1"/>
          </p:nvPr>
        </p:nvSpPr>
        <p:spPr/>
        <p:txBody>
          <a:bodyPr/>
          <a:lstStyle/>
          <a:p>
            <a:pPr>
              <a:defRPr sz="1800"/>
            </a:pPr>
            <a:r>
              <a:t>Bei älteren Gebäichen stimmen Pläne und Wirklichkeit nicht immer vollständig überein. Deshalb gehört zum Nachweis eine Bestandsaufnahme am Gebäude. Dazu zählen ein verformungsgerechtes Aufmaß von Decken und Dachstuhl, die Erfassung von Querschnitten, Auflagern und Anschlüssen sowie die Prüfung sichtbarer Schäden. Besonders relevant sind Risse, Feuchte, Pilzbefall oder Korrosion. Wenn Holzart, Zustand des Holzes oder Betongüte unklar sind, können Materialproben weitere Erkenntnisse liefern. Auch die Gründung muss berücksichtigt werden, gegebenenfalls über Einsicht in Bauakten oder gezielte Baugrundinformationen. Für eine spätere Holzbauplanung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Aufmaß am Bauwerk unverzichtbar ist</a:t>
            </a:r>
          </a:p>
        </p:txBody>
      </p:sp>
      <p:sp>
        <p:nvSpPr>
          <p:cNvPr id="3" name="Content Placeholder 2"/>
          <p:cNvSpPr>
            <a:spLocks noGrp="1"/>
          </p:cNvSpPr>
          <p:nvPr>
            <p:ph idx="1"/>
          </p:nvPr>
        </p:nvSpPr>
        <p:spPr/>
        <p:txBody>
          <a:bodyPr/>
          <a:lstStyle/>
          <a:p>
            <a:pPr>
              <a:defRPr sz="1800"/>
            </a:pPr>
            <a:r>
              <a:t> ist das genaue Aufmaß entscheidend: Höhentoleranzen an Auflagern und Anschlüssen beeinflussen, ob die neue Konstruktion passend geplant und ausgeführt werden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Fragen des statischen Nachweises</a:t>
            </a:r>
          </a:p>
        </p:txBody>
      </p:sp>
      <p:sp>
        <p:nvSpPr>
          <p:cNvPr id="3" name="Content Placeholder 2"/>
          <p:cNvSpPr>
            <a:spLocks noGrp="1"/>
          </p:cNvSpPr>
          <p:nvPr>
            <p:ph idx="1"/>
          </p:nvPr>
        </p:nvSpPr>
        <p:spPr/>
        <p:txBody>
          <a:bodyPr/>
          <a:lstStyle/>
          <a:p>
            <a:pPr>
              <a:defRPr sz="1800"/>
            </a:pPr>
            <a:r>
              <a:t>Im statischen Sinn muss geklärt werden, wie schwer die neue Aufstockung ist, welche zusätzlichen Lasten die bestehenden Bauteile aufnehmen können und wie der Übergang zwischen Alt und Neu funktioniert. Zu berücksichtigen sind die Eigenlasten der neuen Holzrahmenelemente, die Ausbaulasten sowie Verkehrslasten entsprechend der geplanten Nutzung. Für Hamburg gehören außerdem Schnee- und Windlasten zu den Bemessungsaufgaben. Die Lastweiterleitung verläuft über die Geschossdecken in die tragenden Wände. An den Schnittstellen werden insbesondere Auflagerpressungen und Anschlussdetails geprüft. Eine allgemeine Aussage, das Gebäude habe noch Reserven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Fragen des statischen Nachweises</a:t>
            </a:r>
          </a:p>
        </p:txBody>
      </p:sp>
      <p:sp>
        <p:nvSpPr>
          <p:cNvPr id="3" name="Content Placeholder 2"/>
          <p:cNvSpPr>
            <a:spLocks noGrp="1"/>
          </p:cNvSpPr>
          <p:nvPr>
            <p:ph idx="1"/>
          </p:nvPr>
        </p:nvSpPr>
        <p:spPr/>
        <p:txBody>
          <a:bodyPr/>
          <a:lstStyle/>
          <a:p>
            <a:pPr>
              <a:defRPr sz="1800"/>
            </a:pPr>
            <a:r>
              <a:t>, reicht nicht aus. Erst die Berechnung auf Basis von Aufmaß und Materialkennwerten zeigt, ob die Aufstockung möglich ist oder ob bestehende Bauteile ertüchtigt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Hamburg-spezifische Punkte frühzeitig einbeziehen</a:t>
            </a:r>
          </a:p>
        </p:txBody>
      </p:sp>
      <p:sp>
        <p:nvSpPr>
          <p:cNvPr id="3" name="Content Placeholder 2"/>
          <p:cNvSpPr>
            <a:spLocks noGrp="1"/>
          </p:cNvSpPr>
          <p:nvPr>
            <p:ph idx="1"/>
          </p:nvPr>
        </p:nvSpPr>
        <p:spPr/>
        <p:txBody>
          <a:bodyPr/>
          <a:lstStyle/>
          <a:p>
            <a:pPr>
              <a:defRPr sz="1800"/>
            </a:pPr>
            <a:r>
              <a:t>Neben der Tragfähigkeit müssen weitere Anforderungen in die Gesamtplanung einfließen. Dazu zählen der Verfahrensweg über die zuständige Baubehörde, Brandschutzanforderungen aus der geplanten Nutzung sowie die sichere Erschließung des neuen Geschosses. Wird das vorhandene Dach geöffnet oder teilweise zurückgebaut, ist zusätzlich ein Witterungsschutzkonzept wichtig. Es berücksichtigt die darunterliegenden Räume, Lagerflächen und den Materialtransport während der Bauphase. Diese Themen sollten nicht erst nach dem Tragfähigkeitsnachweis behandelt werden, weil sie den Planungsrahmen und die konstruktiven Details beeinflussen können. Auch die gewün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Hamburg-spezifische Punkte frühzeitig einbeziehen</a:t>
            </a:r>
          </a:p>
        </p:txBody>
      </p:sp>
      <p:sp>
        <p:nvSpPr>
          <p:cNvPr id="3" name="Content Placeholder 2"/>
          <p:cNvSpPr>
            <a:spLocks noGrp="1"/>
          </p:cNvSpPr>
          <p:nvPr>
            <p:ph idx="1"/>
          </p:nvPr>
        </p:nvSpPr>
        <p:spPr/>
        <p:txBody>
          <a:bodyPr/>
          <a:lstStyle/>
          <a:p>
            <a:pPr>
              <a:defRPr sz="1800"/>
            </a:pPr>
            <a:r>
              <a:t>schte Nutzung – etwa Wohnraum oder ein Aufenthaltsraum – ist für die erforderlichen Annahmen relevant.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aussagekräftige Anfrage vorbereitet</a:t>
            </a:r>
          </a:p>
        </p:txBody>
      </p:sp>
      <p:sp>
        <p:nvSpPr>
          <p:cNvPr id="3" name="Content Placeholder 2"/>
          <p:cNvSpPr>
            <a:spLocks noGrp="1"/>
          </p:cNvSpPr>
          <p:nvPr>
            <p:ph idx="1"/>
          </p:nvPr>
        </p:nvSpPr>
        <p:spPr/>
        <p:txBody>
          <a:bodyPr/>
          <a:lstStyle/>
          <a:p>
            <a:pPr>
              <a:defRPr sz="1800"/>
            </a:pPr>
            <a:r>
              <a:t>Eine konkrete Anfrage erleichtert die Einschätzung, welche Untersuchungen noch fehlen und wo der Nachweis beginnen sollte. Sinnvoll sind Angaben zu Gebäudemaßen, Geschosszahl und Baualter, zum vorhandenen Plan- und Statikbestand, zum geplanten Raumprogramm sowie zu bereits beteiligten Planern oder eingeholten Stellungnahmen. Auch bekannte Schäden und Auffälligkeiten am Bestand sollten genannt werden. Mit diesen Angaben lässt sich gemeinsam mit einer planenden Person der weitere Untersuchungsbedarf strukturieren. Der Ablauf beginnt somit nicht mit einer festen Zusage zur Machbarkeit, sondern mit einer sauberen Bestandsaufnahme und einer schrit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aussagekräftige Anfrage vorbereitet</a:t>
            </a:r>
          </a:p>
        </p:txBody>
      </p:sp>
      <p:sp>
        <p:nvSpPr>
          <p:cNvPr id="3" name="Content Placeholder 2"/>
          <p:cNvSpPr>
            <a:spLocks noGrp="1"/>
          </p:cNvSpPr>
          <p:nvPr>
            <p:ph idx="1"/>
          </p:nvPr>
        </p:nvSpPr>
        <p:spPr/>
        <p:txBody>
          <a:bodyPr/>
          <a:lstStyle/>
          <a:p>
            <a:pPr>
              <a:defRPr sz="1800"/>
            </a:pPr>
            <a:r>
              <a:t>tweisen Prüfung der erforderlichen Nachweise.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Tragfähigkeit vor der Dachaufstockung: So wird der Bestand in Hamburg wirklich geprüft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