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zimmermannhamburg/baugenehmigung-hamburg-verfahren-dach-holzbau/" TargetMode="External"/><Relationship Id="rId3" Type="http://schemas.openxmlformats.org/officeDocument/2006/relationships/hyperlink" Target="https://holzundhaus.github.io/1azimmermannhamburg/dateien/minimax-cb11742b54a0351dc78a114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Baugenehmigung in Hamburg: Welches Verfahren gilt für Dach- und Holzbauprojekte? · Erklärende Präsentation</a:t>
            </a:r>
          </a:p>
        </p:txBody>
      </p:sp>
      <p:sp>
        <p:nvSpPr>
          <p:cNvPr id="3" name="Content Placeholder 2"/>
          <p:cNvSpPr>
            <a:spLocks noGrp="1"/>
          </p:cNvSpPr>
          <p:nvPr>
            <p:ph idx="1"/>
          </p:nvPr>
        </p:nvSpPr>
        <p:spPr/>
        <p:txBody>
          <a:bodyPr/>
          <a:lstStyle/>
          <a:p>
            <a:r>
              <a:t>Überblick: Ob eine Dachveränderung in Hamburg genehmigungspflichtig ist, lässt sich nicht allein am sichtbaren Umbau ablesen. Seit dem 1. Januar 2026 ordnet die Neufassung der Hamburgischen Bauordnung die Verfahren neu. Für Zimmerer- und Holzbauprojekte ist deshalb eine systematische Einordnung hilfreich: Zuerst werden Verfahrensart, baurechtliche Rahmenbedingungen und die geplante Nutzung geklärt, danach lassen sich Planung, Unterlagen und Angebote besser vergleichen. Dieser Beitrag erklärt, welche Fragen vor dem Beginn eines Dach- oder Holzbauprojekts in Hamburg beantwortet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Verfahrensarten nicht verwechseln</a:t>
            </a:r>
          </a:p>
        </p:txBody>
      </p:sp>
      <p:sp>
        <p:nvSpPr>
          <p:cNvPr id="3" name="Content Placeholder 2"/>
          <p:cNvSpPr>
            <a:spLocks noGrp="1"/>
          </p:cNvSpPr>
          <p:nvPr>
            <p:ph idx="1"/>
          </p:nvPr>
        </p:nvSpPr>
        <p:spPr/>
        <p:txBody>
          <a:bodyPr/>
          <a:lstStyle/>
          <a:p>
            <a:pPr>
              <a:defRPr sz="1800"/>
            </a:pPr>
            <a:r>
              <a:t>Verfahrensfreiheit, Genehmigungsfreistellung und Genehmigungspflicht bezeichnen unterschiedliche Wege. Bei der Verfahrensfreiheit bedarf das Vorhaben weder einer Genehmigung noch eines Freistellungsverfahrens. Die Verantwortung für die Einhaltung aller öffentlich-rechtlichen Anforderungen, etwa zu Abständen oder Denkmalschutz, liegt dann beim Bauherrn beziehungsweise der ausführenden Fachleute. Bei einer Genehmigungsfreistellung ist kein förmlicher Bauantrag erforderlich, das Vorhaben muss aber der zuständigen Behörde angezeigt werden. Diese prüft, ob es mit dem Baurecht vereinbar ist. Eine vollständige Genehmigungspflicht verlangt dagegen ei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Verfahrensarten nicht verwechseln</a:t>
            </a:r>
          </a:p>
        </p:txBody>
      </p:sp>
      <p:sp>
        <p:nvSpPr>
          <p:cNvPr id="3" name="Content Placeholder 2"/>
          <p:cNvSpPr>
            <a:spLocks noGrp="1"/>
          </p:cNvSpPr>
          <p:nvPr>
            <p:ph idx="1"/>
          </p:nvPr>
        </p:nvSpPr>
        <p:spPr/>
        <p:txBody>
          <a:bodyPr/>
          <a:lstStyle/>
          <a:p>
            <a:pPr>
              <a:defRPr sz="1800"/>
            </a:pPr>
            <a:r>
              <a:t>nen Bauantrag mit den erforderlichen Bauvorlagen und Nachweisen, bevor mit dem Vorhaben begonnen wird. Welche Kategorie greift, hängt von Gebäude, Grundstück und Umfang der Änderung ab. Allgemeine Checklisten oder ein telefonischer Hinweis ersetzen diese Prüfung nicht.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Dachprojekt als zusammenhängendes Vorhaben planen</a:t>
            </a:r>
          </a:p>
        </p:txBody>
      </p:sp>
      <p:sp>
        <p:nvSpPr>
          <p:cNvPr id="3" name="Content Placeholder 2"/>
          <p:cNvSpPr>
            <a:spLocks noGrp="1"/>
          </p:cNvSpPr>
          <p:nvPr>
            <p:ph idx="1"/>
          </p:nvPr>
        </p:nvSpPr>
        <p:spPr/>
        <p:txBody>
          <a:bodyPr/>
          <a:lstStyle/>
          <a:p>
            <a:pPr>
              <a:defRPr sz="1800"/>
            </a:pPr>
            <a:r>
              <a:t>Eine Gaube, ein Dachausbau oder ein anderes Holzbauprojekt wirkt nicht nur auf die Außenansicht. Eine Gaube verändert die Dachform, berührt das Tragwerk und erfordert neue Anschlüsse an die bestehende Dachfläche. Wird der Dachraum erstmals als Wohnraum genutzt, gehört diese Nutzungsänderung in dieselbe Planung. Entscheidend ist daher eine Beschreibung des gesamten Vorhabens: sichtbare Veränderung, bauliche Eingriffe, Nutzung und Auswirkungen auf das Gebäude. Eine Aufteilung in mehrere scheinbar getrennte Schritte erschwert die Einordnung und kann zu einer unvollständigen Planung führen. Für die Auswahl der Verfahrensart sollten deshalb auch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Dachprojekt als zusammenhängendes Vorhaben planen</a:t>
            </a:r>
          </a:p>
        </p:txBody>
      </p:sp>
      <p:sp>
        <p:nvSpPr>
          <p:cNvPr id="3" name="Content Placeholder 2"/>
          <p:cNvSpPr>
            <a:spLocks noGrp="1"/>
          </p:cNvSpPr>
          <p:nvPr>
            <p:ph idx="1"/>
          </p:nvPr>
        </p:nvSpPr>
        <p:spPr/>
        <p:txBody>
          <a:bodyPr/>
          <a:lstStyle/>
          <a:p>
            <a:pPr>
              <a:defRPr sz="1800"/>
            </a:pPr>
            <a:r>
              <a:t>ie Lage und Größe der geplanten Dachänderung, der Zustand und Aufbau der Dachkonstruktion sowie die beabsichtigte Nutzung berücksichtigt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Grundstück und Umfeld können die Zulässigkeit begrenzen</a:t>
            </a:r>
          </a:p>
        </p:txBody>
      </p:sp>
      <p:sp>
        <p:nvSpPr>
          <p:cNvPr id="3" name="Content Placeholder 2"/>
          <p:cNvSpPr>
            <a:spLocks noGrp="1"/>
          </p:cNvSpPr>
          <p:nvPr>
            <p:ph idx="1"/>
          </p:nvPr>
        </p:nvSpPr>
        <p:spPr/>
        <p:txBody>
          <a:bodyPr/>
          <a:lstStyle/>
          <a:p>
            <a:pPr>
              <a:defRPr sz="1800"/>
            </a:pPr>
            <a:r>
              <a:t>Neben dem Gebäude selbst sind die planungsrechtlichen Vorgaben für das Grundstück maßgeblich. Dazu können insbesondere der Bebauungsplan und eine mögliche Erhaltungsverordnung gehören. Wenn das Gebäude in einem denkmalgeschützten Bereich liegt, sind zusätzlich die denkmalrechtlichen Anforderungen zu prüfen. Auch andere öffentlich-rechtliche Anforderungen wie Brandschutz, Standsicherheit und nachbarschaftliche Belange bleiben relevant, selbst wenn kein förmliches Genehmigungsverfahren erforderlich ist. Eine sinnvolle erste Anfrage an eine bauvorlageberechtigte Person oder die Bauprüfung enthält deshalb die Adresse des Grundstücks, Angaben zu 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Grundstück und Umfeld können die Zulässigkeit begrenzen</a:t>
            </a:r>
          </a:p>
        </p:txBody>
      </p:sp>
      <p:sp>
        <p:nvSpPr>
          <p:cNvPr id="3" name="Content Placeholder 2"/>
          <p:cNvSpPr>
            <a:spLocks noGrp="1"/>
          </p:cNvSpPr>
          <p:nvPr>
            <p:ph idx="1"/>
          </p:nvPr>
        </p:nvSpPr>
        <p:spPr/>
        <p:txBody>
          <a:bodyPr/>
          <a:lstStyle/>
          <a:p>
            <a:pPr>
              <a:defRPr sz="1800"/>
            </a:pPr>
            <a:r>
              <a:t>ebauungsplan und Erhaltungsverordnung sowie einen Hinweis darauf, ob denkmalrechtliche Anforderungen betroffen sind. So lässt sich früh erkennen, ob offene Punkte eine vertiefte Prüfung erfordern.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und Bauvorbescheid für eine klare Abstimmung</a:t>
            </a:r>
          </a:p>
        </p:txBody>
      </p:sp>
      <p:sp>
        <p:nvSpPr>
          <p:cNvPr id="3" name="Content Placeholder 2"/>
          <p:cNvSpPr>
            <a:spLocks noGrp="1"/>
          </p:cNvSpPr>
          <p:nvPr>
            <p:ph idx="1"/>
          </p:nvPr>
        </p:nvSpPr>
        <p:spPr/>
        <p:txBody>
          <a:bodyPr/>
          <a:lstStyle/>
          <a:p>
            <a:pPr>
              <a:defRPr sz="1800"/>
            </a:pPr>
            <a:r>
              <a:t>Für die Einordnung eines Dach- oder Holzbauprojekts helfen vorhandene Gebäudepläne, frühere Baugenehmigungen, Fotos der aktuellen Dachsituation und eine Skizze der gewünschten Veränderung. Relevant ist außerdem, ob der Dachraum bereits ausgebaut ist und welche Unterlagen zu früheren Umbauten vorliegen. Sind wesentliche Fragen zur Genehmigungsfähigkeit noch offen, kann ein Bauvorbescheid einzelne Punkte vorab verbindlich beantworten, beispielsweise zur Zulässigkeit einer Dachform oder zur Vereinbarkeit mit dem Denkmalschutz. Er ersetzt einen später erforderlichen Bauantrag nicht, kann aber helfen, offene Risiken früh zu erkennen. Die zuständig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und Bauvorbescheid für eine klare Abstimmung</a:t>
            </a:r>
          </a:p>
        </p:txBody>
      </p:sp>
      <p:sp>
        <p:nvSpPr>
          <p:cNvPr id="3" name="Content Placeholder 2"/>
          <p:cNvSpPr>
            <a:spLocks noGrp="1"/>
          </p:cNvSpPr>
          <p:nvPr>
            <p:ph idx="1"/>
          </p:nvPr>
        </p:nvSpPr>
        <p:spPr/>
        <p:txBody>
          <a:bodyPr/>
          <a:lstStyle/>
          <a:p>
            <a:pPr>
              <a:defRPr sz="1800"/>
            </a:pPr>
            <a:r>
              <a:t>en Hinweise in Hamburg sind dabei maßgeblich. Ein weiterführender Ratgeber kann helfen, die gestellte Planungsfrage einzugrenzen und die eigene Projektbeschreibung zu präzisieren.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nach Bauabschnitten vergleichen</a:t>
            </a:r>
          </a:p>
        </p:txBody>
      </p:sp>
      <p:sp>
        <p:nvSpPr>
          <p:cNvPr id="3" name="Content Placeholder 2"/>
          <p:cNvSpPr>
            <a:spLocks noGrp="1"/>
          </p:cNvSpPr>
          <p:nvPr>
            <p:ph idx="1"/>
          </p:nvPr>
        </p:nvSpPr>
        <p:spPr/>
        <p:txBody>
          <a:bodyPr/>
          <a:lstStyle/>
          <a:p>
            <a:pPr>
              <a:defRPr sz="1800"/>
            </a:pPr>
            <a:r>
              <a:t>Eine belastbare Anfrage an einen Zimmerer- oder Holzbaubetrieb macht sichtbar, welche Planungen bereits vorliegen und welche Punkte noch offen sind. Beim Vergleich von Angeboten sollten die Leistungsbestandteile getrennt ausgewiesen werden, insbesondere Zimmererarbeiten, äußere Dachanschlüsse und Innenausbau. So lässt sich erkennen, ob ein Angebot nur die Konstruktion umfasst oder weitere Gewerke einschließt. Bei der Suche nach einer passenden Lösung kann ein weiterführender Ratgeber zu Gaube und Dachfenster die unterschiedlichen baulichen Möglichkeiten erläutern. Das ersetzt weder die Verfahrensklärung noch die Prüfung durch die zuständige 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nach Bauabschnitten vergleichen</a:t>
            </a:r>
          </a:p>
        </p:txBody>
      </p:sp>
      <p:sp>
        <p:nvSpPr>
          <p:cNvPr id="3" name="Content Placeholder 2"/>
          <p:cNvSpPr>
            <a:spLocks noGrp="1"/>
          </p:cNvSpPr>
          <p:nvPr>
            <p:ph idx="1"/>
          </p:nvPr>
        </p:nvSpPr>
        <p:spPr/>
        <p:txBody>
          <a:bodyPr/>
          <a:lstStyle/>
          <a:p>
            <a:pPr>
              <a:defRPr sz="1800"/>
            </a:pPr>
            <a:r>
              <a:t>telle. Entscheidend bleibt, dass der geplante Umfang, die Nutzung und die örtlichen Rahmenbedingungen zusammen betrachtet werden.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Baugenehmigung in Hamburg: Welches Verfahren gilt für Dach- und Holzbauprojekte?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