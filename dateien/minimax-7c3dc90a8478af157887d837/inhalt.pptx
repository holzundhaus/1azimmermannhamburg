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zimmermannhamburg/holzanbau-anschluesse-bestand-planen/" TargetMode="External"/><Relationship Id="rId3" Type="http://schemas.openxmlformats.org/officeDocument/2006/relationships/hyperlink" Target="https://holzundhaus.github.io/1azimmermannhamburg/dateien/minimax-7c3dc90a8478af157887d83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Holzanbau planen: So gelingen die Anschlüsse an das bestehende Haus · Erklärende Präsentation</a:t>
            </a:r>
          </a:p>
        </p:txBody>
      </p:sp>
      <p:sp>
        <p:nvSpPr>
          <p:cNvPr id="3" name="Content Placeholder 2"/>
          <p:cNvSpPr>
            <a:spLocks noGrp="1"/>
          </p:cNvSpPr>
          <p:nvPr>
            <p:ph idx="1"/>
          </p:nvPr>
        </p:nvSpPr>
        <p:spPr/>
        <p:txBody>
          <a:bodyPr/>
          <a:lstStyle/>
          <a:p>
            <a:r>
              <a:t>Überblick: Ein Holzanbau ist erst dann technisch gelöst, wenn die Übergänge zum bestehenden Haus funktionieren. Entscheidend sind nicht nur die sichtbare Holzkonstruktion, sondern auch die geordneten Verbindungen von Lastabtragung, Gründung, Wärmeschutz, Luftdichtheit und Schlagregenschutz. Der folgende Leitfaden zeigt, welche Fragen vor dem Aufmaß geklärt werden sollten. Für den Überblick über den Ablauf bietet sich die Anleitung [Holzanbau planen: Anschlüsse an das bestehende Haus](https://holzundhaus.github.io/1azimmermannhamburg/holzanbau-anschluesse-bestand-planen/) 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am Übergang zweier Baukörper zusammenpassen muss</a:t>
            </a:r>
          </a:p>
        </p:txBody>
      </p:sp>
      <p:sp>
        <p:nvSpPr>
          <p:cNvPr id="3" name="Content Placeholder 2"/>
          <p:cNvSpPr>
            <a:spLocks noGrp="1"/>
          </p:cNvSpPr>
          <p:nvPr>
            <p:ph idx="1"/>
          </p:nvPr>
        </p:nvSpPr>
        <p:spPr/>
        <p:txBody>
          <a:bodyPr/>
          <a:lstStyle/>
          <a:p>
            <a:pPr>
              <a:defRPr sz="1800"/>
            </a:pPr>
            <a:r>
              <a:t>Am Anschluss treffen neue Holzkonstruktion und vorhandene Wand, Decke sowie Gründung aufeinander. Vier Ebenen müssen jeweils eigenständig gelöst werden: Die zusätzlichen Lasten aus Dach, Geschossdecken und Wänden müssen zuverlässig in den Bestand und schließlich in die Gründung eingeleitet werden. Geschoss- und Dachhöhen erfordern einen realistischen Höhenversatz. Die thermische Hülle muss ohne relevante Unterbrechung weiterlaufen, damit Wärmebrücken und Tauwasser vermieden werden. Außerdem ist der geöffnete Bereich des Bestands so anzuschließen, dass die Konstruktion wind- und wasserdicht bleibt.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Lastabtragung und Auflager vor der Werkplanung klären</a:t>
            </a:r>
          </a:p>
        </p:txBody>
      </p:sp>
      <p:sp>
        <p:nvSpPr>
          <p:cNvPr id="3" name="Content Placeholder 2"/>
          <p:cNvSpPr>
            <a:spLocks noGrp="1"/>
          </p:cNvSpPr>
          <p:nvPr>
            <p:ph idx="1"/>
          </p:nvPr>
        </p:nvSpPr>
        <p:spPr/>
        <p:txBody>
          <a:bodyPr/>
          <a:lstStyle/>
          <a:p>
            <a:pPr>
              <a:defRPr sz="1800"/>
            </a:pPr>
            <a:r>
              <a:t>Vor der Montage muss feststehen, auf welcher Grundlage die neue Konstruktion steht und wer die Fundamente beziehungsweise die Bestandssohle herstellt. Wichtig sind dabei die Höhe und Ebenheit der Auflager sowie die nachgewiesene Lastabtragung. An der Bestandswand kann die neue Wand als eigenständiges Tragwerk vorgestellt oder als Anbau angehängt werden; beide Varianten benötigen eine entsprechende konstruktive Lösung. Soll ein Geschoss an eine Bestandsdecke angebunden werden, sind außerdem Auflagertiefe, Toleranzen und die Ausbildung neuer Türöffnungen zu berücksichtigen.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Wärmeschutz nicht erst nach der Bekleidung beurteilen</a:t>
            </a:r>
          </a:p>
        </p:txBody>
      </p:sp>
      <p:sp>
        <p:nvSpPr>
          <p:cNvPr id="3" name="Content Placeholder 2"/>
          <p:cNvSpPr>
            <a:spLocks noGrp="1"/>
          </p:cNvSpPr>
          <p:nvPr>
            <p:ph idx="1"/>
          </p:nvPr>
        </p:nvSpPr>
        <p:spPr/>
        <p:txBody>
          <a:bodyPr/>
          <a:lstStyle/>
          <a:p>
            <a:pPr>
              <a:defRPr sz="1800"/>
            </a:pPr>
            <a:r>
              <a:t>Besonders sensible Stellen sind der Übergang der Bodenplatte in die Dämmebene, der Wandanschluss am Bestand und der Bereich, an dem Dächer zusammentreffen. Durchlaufende Dämmstreifen, vorbereitete Anschlussprofile und eine sauber hergestellene Luftdichtheitsebene gehören deshalb bereits in die Werkplanung. Eine spätere Bekleidung kann einen fehlerhaften Aufbau verdecken, aber nicht nachträglich korrigieren. Auch die geplante Nutzung ist relevant: Daraus können sich Anforderungen an Schallschutz, Rauchdichtheit und Raumklima ergeben, die bei der Verbindung berücksichtigt werden müssen.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und Schlagregenschutz zusammendenken</a:t>
            </a:r>
          </a:p>
        </p:txBody>
      </p:sp>
      <p:sp>
        <p:nvSpPr>
          <p:cNvPr id="3" name="Content Placeholder 2"/>
          <p:cNvSpPr>
            <a:spLocks noGrp="1"/>
          </p:cNvSpPr>
          <p:nvPr>
            <p:ph idx="1"/>
          </p:nvPr>
        </p:nvSpPr>
        <p:spPr/>
        <p:txBody>
          <a:bodyPr/>
          <a:lstStyle/>
          <a:p>
            <a:pPr>
              <a:defRPr sz="1800"/>
            </a:pPr>
            <a:r>
              <a:t>Dampfbremse und Winddichtung des Bestands müssen mit der neuen Hülle verbunden werden. Dafür werden Bahnen überlappend verklebt und an den angrenzenden Bauteilen angeschlossen. Der äußere Wetterschutz muss dagegen von oben nach unten wirken. Überlappende Folien, Tropfkanten und eine durchgehende Fassadenebene verhindern, dass Wasser hinter die Fassade gelangt. Besonders bei unterschiedlichen Traufhöhen verändert ein Höhenversatz den Wasserlauf und damit die Funktion der Tropfkanten. Auch ein Bodenaufgleich mit einer Stufe ist nur unkritisch, wenn die Luftdichtheitsebene ohne Unterbrechung durchläuft.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vorbereiten und Grenzen der Fachplanung erkennen</a:t>
            </a:r>
          </a:p>
        </p:txBody>
      </p:sp>
      <p:sp>
        <p:nvSpPr>
          <p:cNvPr id="3" name="Content Placeholder 2"/>
          <p:cNvSpPr>
            <a:spLocks noGrp="1"/>
          </p:cNvSpPr>
          <p:nvPr>
            <p:ph idx="1"/>
          </p:nvPr>
        </p:nvSpPr>
        <p:spPr/>
        <p:txBody>
          <a:bodyPr/>
          <a:lstStyle/>
          <a:p>
            <a:pPr>
              <a:defRPr sz="1800"/>
            </a:pPr>
            <a:r>
              <a:t>Für eine belastbare Vorplanung helfen verlässliche Bestandsmaße, vorhandene Baugrund- und Gründungsinformationen, Pläne sowie aussagekräftige Fotos. Ergänzend sollten Nutzung und gewünschte Raumqualität beschrieben werden. Während der Bauphase benötigt der geöffnete Anschlussbereich zudem ein Witterungsschutzkonzept, damit weder Wasser in das Gebäude noch Feuchtigkeit in die Bauteile gelangt. Baurechtliche Zulässigkeit, Abstandsflächen, Stellplätze und Denkmalschutz lassen sich nicht allein aus dem Baustoff Holz beantworten. Diese Themen gehören in eigene Verfahren vor der technischen Planung. Ergänzende Angebote und Leistungen zeigt der [Hol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vorbereiten und Grenzen der Fachplanung erkennen</a:t>
            </a:r>
          </a:p>
        </p:txBody>
      </p:sp>
      <p:sp>
        <p:nvSpPr>
          <p:cNvPr id="3" name="Content Placeholder 2"/>
          <p:cNvSpPr>
            <a:spLocks noGrp="1"/>
          </p:cNvSpPr>
          <p:nvPr>
            <p:ph idx="1"/>
          </p:nvPr>
        </p:nvSpPr>
        <p:spPr/>
        <p:txBody>
          <a:bodyPr/>
          <a:lstStyle/>
          <a:p>
            <a:pPr>
              <a:defRPr sz="1800"/>
            </a:pPr>
            <a:r>
              <a:t>zanbau Hamburg](https://www.1a-zimmermannhamburg.de/holzanbau/).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Holzanbau planen: So gelingen die Anschlüsse an das bestehende Haus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